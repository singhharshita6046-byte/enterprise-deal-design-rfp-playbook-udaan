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Oswald Medium"/>
      <p:regular r:id="rId14"/>
      <p:bold r:id="rId15"/>
    </p:embeddedFont>
    <p:embeddedFont>
      <p:font typeface="Inter SemiBold"/>
      <p:regular r:id="rId16"/>
      <p:bold r:id="rId17"/>
      <p:italic r:id="rId18"/>
      <p:boldItalic r:id="rId19"/>
    </p:embeddedFont>
    <p:embeddedFont>
      <p:font typeface="Nunito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Maven Pro"/>
      <p:regular r:id="rId28"/>
      <p:bold r:id="rId29"/>
    </p:embeddedFont>
    <p:embeddedFont>
      <p:font typeface="DM Sans SemiBold"/>
      <p:regular r:id="rId30"/>
      <p:bold r:id="rId31"/>
      <p:italic r:id="rId32"/>
      <p:boldItalic r:id="rId33"/>
    </p:embeddedFont>
    <p:embeddedFont>
      <p:font typeface="Oswald"/>
      <p:regular r:id="rId34"/>
      <p:bold r:id="rId35"/>
    </p:embeddedFont>
    <p:embeddedFont>
      <p:font typeface="Carlito"/>
      <p:regular r:id="rId36"/>
      <p:bold r:id="rId37"/>
      <p:italic r:id="rId38"/>
      <p:boldItalic r:id="rId39"/>
    </p:embeddedFont>
    <p:embeddedFont>
      <p:font typeface="DM Sans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4" roundtripDataSignature="AMtx7mjJ9nK95XC4JSK0Oiuz0UhyzDe/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regular.fntdata"/><Relationship Id="rId20" Type="http://schemas.openxmlformats.org/officeDocument/2006/relationships/font" Target="fonts/Nunito-regular.fntdata"/><Relationship Id="rId42" Type="http://schemas.openxmlformats.org/officeDocument/2006/relationships/font" Target="fonts/DMSans-italic.fntdata"/><Relationship Id="rId41" Type="http://schemas.openxmlformats.org/officeDocument/2006/relationships/font" Target="fonts/DMSans-bold.fntdata"/><Relationship Id="rId22" Type="http://schemas.openxmlformats.org/officeDocument/2006/relationships/font" Target="fonts/Nunito-italic.fntdata"/><Relationship Id="rId44" Type="http://customschemas.google.com/relationships/presentationmetadata" Target="metadata"/><Relationship Id="rId21" Type="http://schemas.openxmlformats.org/officeDocument/2006/relationships/font" Target="fonts/Nunito-bold.fntdata"/><Relationship Id="rId43" Type="http://schemas.openxmlformats.org/officeDocument/2006/relationships/font" Target="fonts/DMSans-boldItalic.fntdata"/><Relationship Id="rId24" Type="http://schemas.openxmlformats.org/officeDocument/2006/relationships/font" Target="fonts/Inter-regular.fntdata"/><Relationship Id="rId23" Type="http://schemas.openxmlformats.org/officeDocument/2006/relationships/font" Target="fonts/Nunit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MavenPro-regular.fntdata"/><Relationship Id="rId27" Type="http://schemas.openxmlformats.org/officeDocument/2006/relationships/font" Target="fonts/Inter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avenPr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DMSansSemiBold-bold.fntdata"/><Relationship Id="rId30" Type="http://schemas.openxmlformats.org/officeDocument/2006/relationships/font" Target="fonts/DMSansSemiBold-regular.fntdata"/><Relationship Id="rId11" Type="http://schemas.openxmlformats.org/officeDocument/2006/relationships/slide" Target="slides/slide7.xml"/><Relationship Id="rId33" Type="http://schemas.openxmlformats.org/officeDocument/2006/relationships/font" Target="fonts/DMSansSemiBold-boldItalic.fntdata"/><Relationship Id="rId10" Type="http://schemas.openxmlformats.org/officeDocument/2006/relationships/slide" Target="slides/slide6.xml"/><Relationship Id="rId32" Type="http://schemas.openxmlformats.org/officeDocument/2006/relationships/font" Target="fonts/DMSansSemiBold-italic.fntdata"/><Relationship Id="rId13" Type="http://schemas.openxmlformats.org/officeDocument/2006/relationships/slide" Target="slides/slide9.xml"/><Relationship Id="rId35" Type="http://schemas.openxmlformats.org/officeDocument/2006/relationships/font" Target="fonts/Oswald-bold.fntdata"/><Relationship Id="rId12" Type="http://schemas.openxmlformats.org/officeDocument/2006/relationships/slide" Target="slides/slide8.xml"/><Relationship Id="rId34" Type="http://schemas.openxmlformats.org/officeDocument/2006/relationships/font" Target="fonts/Oswald-regular.fntdata"/><Relationship Id="rId15" Type="http://schemas.openxmlformats.org/officeDocument/2006/relationships/font" Target="fonts/OswaldMedium-bold.fntdata"/><Relationship Id="rId37" Type="http://schemas.openxmlformats.org/officeDocument/2006/relationships/font" Target="fonts/Carlito-bold.fntdata"/><Relationship Id="rId14" Type="http://schemas.openxmlformats.org/officeDocument/2006/relationships/font" Target="fonts/OswaldMedium-regular.fntdata"/><Relationship Id="rId36" Type="http://schemas.openxmlformats.org/officeDocument/2006/relationships/font" Target="fonts/Carlito-regular.fntdata"/><Relationship Id="rId17" Type="http://schemas.openxmlformats.org/officeDocument/2006/relationships/font" Target="fonts/InterSemiBold-bold.fntdata"/><Relationship Id="rId39" Type="http://schemas.openxmlformats.org/officeDocument/2006/relationships/font" Target="fonts/Carlito-boldItalic.fntdata"/><Relationship Id="rId16" Type="http://schemas.openxmlformats.org/officeDocument/2006/relationships/font" Target="fonts/InterSemiBold-regular.fntdata"/><Relationship Id="rId38" Type="http://schemas.openxmlformats.org/officeDocument/2006/relationships/font" Target="fonts/Carlito-italic.fntdata"/><Relationship Id="rId19" Type="http://schemas.openxmlformats.org/officeDocument/2006/relationships/font" Target="fonts/InterSemiBold-boldItalic.fntdata"/><Relationship Id="rId18" Type="http://schemas.openxmlformats.org/officeDocument/2006/relationships/font" Target="fonts/Inter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Time: 15 seconds.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Say: your name, your organisation, and that your talk has two parts - your internship work and the AI solution you built.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 specialisations: same for everyone.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Next: introduce yourself and where you worked.</a:t>
            </a:r>
            <a:endParaRPr/>
          </a:p>
        </p:txBody>
      </p:sp>
      <p:sp>
        <p:nvSpPr>
          <p:cNvPr id="281" name="Google Shape;281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Time: 30 seconds. Keep setup short - the focus is your work.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Say: who you are (left), then the organisation and where you sat in it (right). One line each.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 specialisations: keep the organisation to a sentence.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Next: the mandate you were given.</a:t>
            </a:r>
            <a:endParaRPr/>
          </a:p>
        </p:txBody>
      </p:sp>
      <p:sp>
        <p:nvSpPr>
          <p:cNvPr id="289" name="Google Shape;28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Time: 30 seconds.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Say: your core responsibility, your project responsibility, and who you worked with. One action verb each.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Marketing: ran campaigns / analysed a segment / worked with the brand team. Finance: maintained a model / analysed a portfolio / reported to the finance head. HR: screened candidates / ran a hiring project / coordinated with managers. Operations: tracked a process / ran an improvement project / worked with the plant or vendor team.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Next: what you actually did - your main slide.</a:t>
            </a:r>
            <a:endParaRPr/>
          </a:p>
        </p:txBody>
      </p:sp>
      <p:sp>
        <p:nvSpPr>
          <p:cNvPr id="300" name="Google Shape;30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Time: 55 seconds. YOUR MOST IMPORTANT SLIDE. Slow down and show your work.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Say: how you approached the task, what you actually did (in detail, using 'I'), and one challenge you worked through.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 specialisations: this is where ownership is judged. Be specific about YOUR actions, not the team's. Name your methods or tools.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Next: what your work produced.</a:t>
            </a:r>
            <a:endParaRPr/>
          </a:p>
        </p:txBody>
      </p:sp>
      <p:sp>
        <p:nvSpPr>
          <p:cNvPr id="312" name="Google Shape;31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Time: 45 seconds. Second core slide - give it room.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Say: what you delivered, the measured outcome (a number where you have one), and the value to the organisation.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Marketing: leads, reach, conversion. Finance: money saved, error found, time cut. HR: candidates hired, time-to-fill cut. Operations: time, cost, error rate or throughput. Label any estimate.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Next: what the internship showed about you.</a:t>
            </a:r>
            <a:endParaRPr/>
          </a:p>
        </p:txBody>
      </p:sp>
      <p:sp>
        <p:nvSpPr>
          <p:cNvPr id="324" name="Google Shape;32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5" name="Google Shape;33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Time: 25 seconds.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Say: two strengths the internship drew out (with evidence), and one honest area for growth plus the step you are taking on 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 specialisations: use real evidence from what you just described. Owning a development area shows maturity.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Next: Part 2 - your AI solution.</a:t>
            </a:r>
            <a:endParaRPr/>
          </a:p>
        </p:txBody>
      </p:sp>
      <p:sp>
        <p:nvSpPr>
          <p:cNvPr id="336" name="Google Shape;33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Time: 55 seconds. This is all of Part 2 - the only AI slide before the close.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Say: FIRST the gap you spotted (the problem, who it affects). THEN your solution - input, what the AI does in plain language, the output (show one real example), and the human decision point plus one limit.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 specialisations: state the gap in one line, then spend the time on your own tool. Keep the AI explanation in plain English. Always name who checks the output.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Next: close by connecting both parts.</a:t>
            </a:r>
            <a:endParaRPr/>
          </a:p>
        </p:txBody>
      </p:sp>
      <p:sp>
        <p:nvSpPr>
          <p:cNvPr id="347" name="Google Shape;34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Time: 25 seconds. Close firmly.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Say: one line on your CIP work, one line on your AI solution, then your deployment level, key limit and next step. Stop at five minutes and invite questions.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 specialisations: same for everyone. No new information here.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End: invite questions.</a:t>
            </a:r>
            <a:endParaRPr/>
          </a:p>
        </p:txBody>
      </p:sp>
      <p:sp>
        <p:nvSpPr>
          <p:cNvPr id="360" name="Google Shape;36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f82928f0c3_0_95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f82928f0c3_0_95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f82928f0c3_0_95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g3f82928f0c3_0_687"/>
          <p:cNvGrpSpPr/>
          <p:nvPr/>
        </p:nvGrpSpPr>
        <p:grpSpPr>
          <a:xfrm>
            <a:off x="9790426" y="4546120"/>
            <a:ext cx="2255173" cy="2310006"/>
            <a:chOff x="7343003" y="3409675"/>
            <a:chExt cx="1691422" cy="1732548"/>
          </a:xfrm>
        </p:grpSpPr>
        <p:grpSp>
          <p:nvGrpSpPr>
            <p:cNvPr id="15" name="Google Shape;15;g3f82928f0c3_0_687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6" name="Google Shape;16;g3f82928f0c3_0_687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g3f82928f0c3_0_687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g3f82928f0c3_0_687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9" name="Google Shape;19;g3f82928f0c3_0_687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g3f82928f0c3_0_687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g3f82928f0c3_0_687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" name="Google Shape;22;g3f82928f0c3_0_687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23" name="Google Shape;23;g3f82928f0c3_0_687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g3f82928f0c3_0_687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g3f82928f0c3_0_687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g3f82928f0c3_0_687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" name="Google Shape;27;g3f82928f0c3_0_687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8" name="Google Shape;28;g3f82928f0c3_0_687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g3f82928f0c3_0_687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g3f82928f0c3_0_687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" name="Google Shape;31;g3f82928f0c3_0_687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g3f82928f0c3_0_687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3" name="Google Shape;33;g3f82928f0c3_0_687"/>
          <p:cNvGrpSpPr/>
          <p:nvPr/>
        </p:nvGrpSpPr>
        <p:grpSpPr>
          <a:xfrm>
            <a:off x="6724502" y="0"/>
            <a:ext cx="5085303" cy="5118675"/>
            <a:chOff x="5043503" y="0"/>
            <a:chExt cx="3814072" cy="3839102"/>
          </a:xfrm>
        </p:grpSpPr>
        <p:sp>
          <p:nvSpPr>
            <p:cNvPr id="34" name="Google Shape;34;g3f82928f0c3_0_687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g3f82928f0c3_0_687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" name="Google Shape;36;g3f82928f0c3_0_687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7" name="Google Shape;37;g3f82928f0c3_0_687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g3f82928f0c3_0_687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g3f82928f0c3_0_687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g3f82928f0c3_0_687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" name="Google Shape;41;g3f82928f0c3_0_687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42" name="Google Shape;42;g3f82928f0c3_0_687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g3f82928f0c3_0_687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4" name="Google Shape;44;g3f82928f0c3_0_687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g3f82928f0c3_0_687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g3f82928f0c3_0_687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g3f82928f0c3_0_687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g3f82928f0c3_0_687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g3f82928f0c3_0_687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" name="Google Shape;50;g3f82928f0c3_0_687"/>
          <p:cNvSpPr txBox="1"/>
          <p:nvPr>
            <p:ph type="ctrTitle"/>
          </p:nvPr>
        </p:nvSpPr>
        <p:spPr>
          <a:xfrm>
            <a:off x="1098667" y="2151750"/>
            <a:ext cx="56739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g3f82928f0c3_0_687"/>
          <p:cNvSpPr txBox="1"/>
          <p:nvPr>
            <p:ph idx="1" type="subTitle"/>
          </p:nvPr>
        </p:nvSpPr>
        <p:spPr>
          <a:xfrm>
            <a:off x="1098667" y="4795067"/>
            <a:ext cx="5673900" cy="927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g3f82928f0c3_0_687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g3f82928f0c3_0_727"/>
          <p:cNvGrpSpPr/>
          <p:nvPr/>
        </p:nvGrpSpPr>
        <p:grpSpPr>
          <a:xfrm>
            <a:off x="195687" y="4541"/>
            <a:ext cx="1644245" cy="1846001"/>
            <a:chOff x="146769" y="3406"/>
            <a:chExt cx="1233215" cy="1384535"/>
          </a:xfrm>
        </p:grpSpPr>
        <p:grpSp>
          <p:nvGrpSpPr>
            <p:cNvPr id="55" name="Google Shape;55;g3f82928f0c3_0_727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6" name="Google Shape;56;g3f82928f0c3_0_727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g3f82928f0c3_0_727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g3f82928f0c3_0_727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9" name="Google Shape;59;g3f82928f0c3_0_727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g3f82928f0c3_0_727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g3f82928f0c3_0_727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2" name="Google Shape;62;g3f82928f0c3_0_727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63" name="Google Shape;63;g3f82928f0c3_0_727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g3f82928f0c3_0_727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g3f82928f0c3_0_727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g3f82928f0c3_0_727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7" name="Google Shape;67;g3f82928f0c3_0_727"/>
          <p:cNvGrpSpPr/>
          <p:nvPr/>
        </p:nvGrpSpPr>
        <p:grpSpPr>
          <a:xfrm>
            <a:off x="9033219" y="3871914"/>
            <a:ext cx="2914791" cy="2985925"/>
            <a:chOff x="6775084" y="2904008"/>
            <a:chExt cx="2186148" cy="2239500"/>
          </a:xfrm>
        </p:grpSpPr>
        <p:grpSp>
          <p:nvGrpSpPr>
            <p:cNvPr id="68" name="Google Shape;68;g3f82928f0c3_0_727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9" name="Google Shape;69;g3f82928f0c3_0_727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g3f82928f0c3_0_727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g3f82928f0c3_0_727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72" name="Google Shape;72;g3f82928f0c3_0_727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g3f82928f0c3_0_727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g3f82928f0c3_0_727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" name="Google Shape;75;g3f82928f0c3_0_727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6" name="Google Shape;76;g3f82928f0c3_0_727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g3f82928f0c3_0_727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g3f82928f0c3_0_727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g3f82928f0c3_0_727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0" name="Google Shape;80;g3f82928f0c3_0_727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81" name="Google Shape;81;g3f82928f0c3_0_727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g3f82928f0c3_0_727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g3f82928f0c3_0_727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g3f82928f0c3_0_727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g3f82928f0c3_0_727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6" name="Google Shape;86;g3f82928f0c3_0_727"/>
          <p:cNvSpPr txBox="1"/>
          <p:nvPr>
            <p:ph type="title"/>
          </p:nvPr>
        </p:nvSpPr>
        <p:spPr>
          <a:xfrm>
            <a:off x="1098667" y="2151767"/>
            <a:ext cx="78105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g3f82928f0c3_0_727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g3f82928f0c3_0_762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90" name="Google Shape;90;g3f82928f0c3_0_762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g3f82928f0c3_0_762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" name="Google Shape;92;g3f82928f0c3_0_762"/>
          <p:cNvSpPr txBox="1"/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3" name="Google Shape;93;g3f82928f0c3_0_762"/>
          <p:cNvSpPr txBox="1"/>
          <p:nvPr>
            <p:ph idx="1" type="body"/>
          </p:nvPr>
        </p:nvSpPr>
        <p:spPr>
          <a:xfrm>
            <a:off x="1738400" y="2653400"/>
            <a:ext cx="9374100" cy="3388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94" name="Google Shape;94;g3f82928f0c3_0_762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g3f82928f0c3_0_769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97" name="Google Shape;97;g3f82928f0c3_0_76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g3f82928f0c3_0_76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g3f82928f0c3_0_769"/>
          <p:cNvSpPr txBox="1"/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0" name="Google Shape;100;g3f82928f0c3_0_769"/>
          <p:cNvSpPr txBox="1"/>
          <p:nvPr>
            <p:ph idx="1" type="body"/>
          </p:nvPr>
        </p:nvSpPr>
        <p:spPr>
          <a:xfrm>
            <a:off x="1738400" y="2653400"/>
            <a:ext cx="4574100" cy="3388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01" name="Google Shape;101;g3f82928f0c3_0_769"/>
          <p:cNvSpPr txBox="1"/>
          <p:nvPr>
            <p:ph idx="2" type="body"/>
          </p:nvPr>
        </p:nvSpPr>
        <p:spPr>
          <a:xfrm>
            <a:off x="6538200" y="2653400"/>
            <a:ext cx="4574100" cy="3388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02" name="Google Shape;102;g3f82928f0c3_0_769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g3f82928f0c3_0_777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05" name="Google Shape;105;g3f82928f0c3_0_77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g3f82928f0c3_0_77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g3f82928f0c3_0_777"/>
          <p:cNvSpPr txBox="1"/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8" name="Google Shape;108;g3f82928f0c3_0_777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g3f82928f0c3_0_783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11" name="Google Shape;111;g3f82928f0c3_0_783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g3f82928f0c3_0_783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g3f82928f0c3_0_783"/>
          <p:cNvSpPr txBox="1"/>
          <p:nvPr>
            <p:ph type="title"/>
          </p:nvPr>
        </p:nvSpPr>
        <p:spPr>
          <a:xfrm>
            <a:off x="1738400" y="798100"/>
            <a:ext cx="4416000" cy="2120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4" name="Google Shape;114;g3f82928f0c3_0_783"/>
          <p:cNvSpPr txBox="1"/>
          <p:nvPr>
            <p:ph idx="1" type="body"/>
          </p:nvPr>
        </p:nvSpPr>
        <p:spPr>
          <a:xfrm>
            <a:off x="1738400" y="3079567"/>
            <a:ext cx="4416000" cy="2962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15" name="Google Shape;115;g3f82928f0c3_0_783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g3f82928f0c3_0_790"/>
          <p:cNvGrpSpPr/>
          <p:nvPr/>
        </p:nvGrpSpPr>
        <p:grpSpPr>
          <a:xfrm>
            <a:off x="9155392" y="1742"/>
            <a:ext cx="3023192" cy="3468833"/>
            <a:chOff x="6790514" y="1306"/>
            <a:chExt cx="2267451" cy="2601690"/>
          </a:xfrm>
        </p:grpSpPr>
        <p:grpSp>
          <p:nvGrpSpPr>
            <p:cNvPr id="118" name="Google Shape;118;g3f82928f0c3_0_790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9" name="Google Shape;119;g3f82928f0c3_0_790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g3f82928f0c3_0_790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g3f82928f0c3_0_790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g3f82928f0c3_0_790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23" name="Google Shape;123;g3f82928f0c3_0_790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g3f82928f0c3_0_790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g3f82928f0c3_0_790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" name="Google Shape;126;g3f82928f0c3_0_790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7" name="Google Shape;127;g3f82928f0c3_0_790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g3f82928f0c3_0_790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9" name="Google Shape;129;g3f82928f0c3_0_790"/>
          <p:cNvSpPr txBox="1"/>
          <p:nvPr>
            <p:ph type="title"/>
          </p:nvPr>
        </p:nvSpPr>
        <p:spPr>
          <a:xfrm>
            <a:off x="1098667" y="1018133"/>
            <a:ext cx="7810500" cy="476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" name="Google Shape;130;g3f82928f0c3_0_790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g3f82928f0c3_0_805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33" name="Google Shape;133;g3f82928f0c3_0_80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g3f82928f0c3_0_80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" name="Google Shape;135;g3f82928f0c3_0_805"/>
          <p:cNvSpPr txBox="1"/>
          <p:nvPr>
            <p:ph type="title"/>
          </p:nvPr>
        </p:nvSpPr>
        <p:spPr>
          <a:xfrm>
            <a:off x="1738400" y="798100"/>
            <a:ext cx="4574100" cy="26535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6" name="Google Shape;136;g3f82928f0c3_0_805"/>
          <p:cNvSpPr txBox="1"/>
          <p:nvPr>
            <p:ph idx="1" type="subTitle"/>
          </p:nvPr>
        </p:nvSpPr>
        <p:spPr>
          <a:xfrm>
            <a:off x="1738400" y="3657604"/>
            <a:ext cx="4574100" cy="9681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7" name="Google Shape;137;g3f82928f0c3_0_805"/>
          <p:cNvSpPr txBox="1"/>
          <p:nvPr>
            <p:ph idx="2" type="body"/>
          </p:nvPr>
        </p:nvSpPr>
        <p:spPr>
          <a:xfrm>
            <a:off x="6538267" y="881333"/>
            <a:ext cx="4574100" cy="51609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38" name="Google Shape;138;g3f82928f0c3_0_805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g3f82928f0c3_0_813"/>
          <p:cNvGrpSpPr/>
          <p:nvPr/>
        </p:nvGrpSpPr>
        <p:grpSpPr>
          <a:xfrm>
            <a:off x="951176" y="5129497"/>
            <a:ext cx="1100560" cy="1100560"/>
            <a:chOff x="348199" y="179450"/>
            <a:chExt cx="1116300" cy="1116300"/>
          </a:xfrm>
        </p:grpSpPr>
        <p:sp>
          <p:nvSpPr>
            <p:cNvPr id="141" name="Google Shape;141;g3f82928f0c3_0_813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g3f82928f0c3_0_813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g3f82928f0c3_0_813"/>
          <p:cNvSpPr txBox="1"/>
          <p:nvPr>
            <p:ph idx="1" type="body"/>
          </p:nvPr>
        </p:nvSpPr>
        <p:spPr>
          <a:xfrm>
            <a:off x="1738400" y="5518633"/>
            <a:ext cx="7790700" cy="713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144" name="Google Shape;144;g3f82928f0c3_0_813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g3f82928f0c3_0_819"/>
          <p:cNvGrpSpPr/>
          <p:nvPr/>
        </p:nvGrpSpPr>
        <p:grpSpPr>
          <a:xfrm>
            <a:off x="69" y="5465463"/>
            <a:ext cx="12191743" cy="1392365"/>
            <a:chOff x="52" y="4099200"/>
            <a:chExt cx="9144036" cy="1044300"/>
          </a:xfrm>
        </p:grpSpPr>
        <p:grpSp>
          <p:nvGrpSpPr>
            <p:cNvPr id="147" name="Google Shape;147;g3f82928f0c3_0_819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8" name="Google Shape;148;g3f82928f0c3_0_819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g3f82928f0c3_0_819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g3f82928f0c3_0_819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g3f82928f0c3_0_819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" name="Google Shape;152;g3f82928f0c3_0_819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53" name="Google Shape;153;g3f82928f0c3_0_819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g3f82928f0c3_0_819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g3f82928f0c3_0_819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g3f82928f0c3_0_819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g3f82928f0c3_0_819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" name="Google Shape;158;g3f82928f0c3_0_819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9" name="Google Shape;159;g3f82928f0c3_0_819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g3f82928f0c3_0_819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g3f82928f0c3_0_819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g3f82928f0c3_0_819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g3f82928f0c3_0_819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4" name="Google Shape;164;g3f82928f0c3_0_819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g3f82928f0c3_0_819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g3f82928f0c3_0_819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" name="Google Shape;167;g3f82928f0c3_0_819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8" name="Google Shape;168;g3f82928f0c3_0_819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g3f82928f0c3_0_819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g3f82928f0c3_0_819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g3f82928f0c3_0_819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g3f82928f0c3_0_819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3" name="Google Shape;173;g3f82928f0c3_0_819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4" name="Google Shape;174;g3f82928f0c3_0_819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g3f82928f0c3_0_819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g3f82928f0c3_0_819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g3f82928f0c3_0_819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g3f82928f0c3_0_819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9" name="Google Shape;179;g3f82928f0c3_0_819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g3f82928f0c3_0_819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g3f82928f0c3_0_819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2" name="Google Shape;182;g3f82928f0c3_0_819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83" name="Google Shape;183;g3f82928f0c3_0_819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g3f82928f0c3_0_819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g3f82928f0c3_0_819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g3f82928f0c3_0_819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g3f82928f0c3_0_819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8" name="Google Shape;188;g3f82928f0c3_0_819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9" name="Google Shape;189;g3f82928f0c3_0_819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g3f82928f0c3_0_819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g3f82928f0c3_0_819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g3f82928f0c3_0_819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3" name="Google Shape;193;g3f82928f0c3_0_819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4" name="Google Shape;194;g3f82928f0c3_0_819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g3f82928f0c3_0_819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g3f82928f0c3_0_819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g3f82928f0c3_0_819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g3f82928f0c3_0_819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9" name="Google Shape;199;g3f82928f0c3_0_819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g3f82928f0c3_0_819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g3f82928f0c3_0_819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2" name="Google Shape;202;g3f82928f0c3_0_819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203" name="Google Shape;203;g3f82928f0c3_0_819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g3f82928f0c3_0_819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g3f82928f0c3_0_819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g3f82928f0c3_0_819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7" name="Google Shape;207;g3f82928f0c3_0_819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8" name="Google Shape;208;g3f82928f0c3_0_819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g3f82928f0c3_0_819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g3f82928f0c3_0_819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g3f82928f0c3_0_819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2" name="Google Shape;212;g3f82928f0c3_0_819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13" name="Google Shape;213;g3f82928f0c3_0_819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g3f82928f0c3_0_819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g3f82928f0c3_0_819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g3f82928f0c3_0_819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g3f82928f0c3_0_819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8" name="Google Shape;218;g3f82928f0c3_0_819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9" name="Google Shape;219;g3f82928f0c3_0_819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g3f82928f0c3_0_819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g3f82928f0c3_0_819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g3f82928f0c3_0_819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g3f82928f0c3_0_819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4" name="Google Shape;224;g3f82928f0c3_0_819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g3f82928f0c3_0_819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g3f82928f0c3_0_819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7" name="Google Shape;227;g3f82928f0c3_0_819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8" name="Google Shape;228;g3f82928f0c3_0_819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g3f82928f0c3_0_819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g3f82928f0c3_0_819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g3f82928f0c3_0_819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2" name="Google Shape;232;g3f82928f0c3_0_819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33" name="Google Shape;233;g3f82928f0c3_0_819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g3f82928f0c3_0_819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g3f82928f0c3_0_819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g3f82928f0c3_0_819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g3f82928f0c3_0_819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8" name="Google Shape;238;g3f82928f0c3_0_819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9" name="Google Shape;239;g3f82928f0c3_0_819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g3f82928f0c3_0_819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g3f82928f0c3_0_819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g3f82928f0c3_0_819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g3f82928f0c3_0_819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4" name="Google Shape;244;g3f82928f0c3_0_819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g3f82928f0c3_0_819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g3f82928f0c3_0_819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7" name="Google Shape;247;g3f82928f0c3_0_819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8" name="Google Shape;248;g3f82928f0c3_0_819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g3f82928f0c3_0_819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g3f82928f0c3_0_819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g3f82928f0c3_0_819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g3f82928f0c3_0_819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3" name="Google Shape;253;g3f82928f0c3_0_819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4" name="Google Shape;254;g3f82928f0c3_0_819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g3f82928f0c3_0_819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g3f82928f0c3_0_819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g3f82928f0c3_0_819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8" name="Google Shape;258;g3f82928f0c3_0_819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9" name="Google Shape;259;g3f82928f0c3_0_819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g3f82928f0c3_0_819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g3f82928f0c3_0_819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g3f82928f0c3_0_819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g3f82928f0c3_0_819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4" name="Google Shape;264;g3f82928f0c3_0_819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g3f82928f0c3_0_819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g3f82928f0c3_0_819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7" name="Google Shape;267;g3f82928f0c3_0_819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8" name="Google Shape;268;g3f82928f0c3_0_819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g3f82928f0c3_0_819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g3f82928f0c3_0_819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g3f82928f0c3_0_819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72" name="Google Shape;272;g3f82928f0c3_0_819"/>
          <p:cNvSpPr txBox="1"/>
          <p:nvPr>
            <p:ph hasCustomPrompt="1" type="title"/>
          </p:nvPr>
        </p:nvSpPr>
        <p:spPr>
          <a:xfrm>
            <a:off x="1851500" y="1030300"/>
            <a:ext cx="8489100" cy="248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3" name="Google Shape;273;g3f82928f0c3_0_819"/>
          <p:cNvSpPr txBox="1"/>
          <p:nvPr>
            <p:ph idx="1" type="body"/>
          </p:nvPr>
        </p:nvSpPr>
        <p:spPr>
          <a:xfrm>
            <a:off x="1851500" y="3616400"/>
            <a:ext cx="8489100" cy="14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4" name="Google Shape;274;g3f82928f0c3_0_819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82928f0c3_0_949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82928f0c3_0_68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11" name="Google Shape;11;g3f82928f0c3_0_683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Nunito"/>
              <a:buChar char="●"/>
              <a:defRPr sz="17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" name="Google Shape;12;g3f82928f0c3_0_683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"/>
          <p:cNvSpPr/>
          <p:nvPr/>
        </p:nvSpPr>
        <p:spPr>
          <a:xfrm>
            <a:off x="501075" y="1810875"/>
            <a:ext cx="9448800" cy="12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Carlito"/>
              <a:buNone/>
            </a:pPr>
            <a:r>
              <a:rPr b="1" lang="en-US" sz="4700">
                <a:solidFill>
                  <a:srgbClr val="FDB515"/>
                </a:solidFill>
                <a:latin typeface="Oswald"/>
                <a:ea typeface="Oswald"/>
                <a:cs typeface="Oswald"/>
                <a:sym typeface="Oswald"/>
              </a:rPr>
              <a:t>CIP Viva Voce</a:t>
            </a:r>
            <a:br>
              <a:rPr b="1" lang="en-US" sz="47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b="1" lang="en-US" sz="47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Student Presentation</a:t>
            </a:r>
            <a:endParaRPr sz="7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84" name="Google Shape;284;p1"/>
          <p:cNvSpPr/>
          <p:nvPr/>
        </p:nvSpPr>
        <p:spPr>
          <a:xfrm>
            <a:off x="501075" y="3163050"/>
            <a:ext cx="72561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1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Name: Harshita Singh  |  Roll No.: 25PGDM080</a:t>
            </a:r>
            <a:br>
              <a:rPr lang="en-US" sz="1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US" sz="1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Programme / specialization: PGDM, 2025–2027</a:t>
            </a:r>
            <a:br>
              <a:rPr lang="en-US" sz="1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US" sz="16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Internship organization: Udaan India Pvt. Ltd.</a:t>
            </a:r>
            <a:endParaRPr sz="16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5" name="Google Shape;285;p1"/>
          <p:cNvSpPr/>
          <p:nvPr/>
        </p:nvSpPr>
        <p:spPr>
          <a:xfrm>
            <a:off x="501075" y="4751925"/>
            <a:ext cx="10477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Carlito"/>
                <a:ea typeface="Carlito"/>
                <a:cs typeface="Carlito"/>
                <a:sym typeface="Carlito"/>
              </a:rPr>
              <a:t>PART 1 / CIP IN-ORGANIZATION PROJECT     PART 2 / AI IN CIP PROJECT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"/>
          <p:cNvSpPr/>
          <p:nvPr/>
        </p:nvSpPr>
        <p:spPr>
          <a:xfrm>
            <a:off x="433925" y="2774250"/>
            <a:ext cx="5533200" cy="34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2400"/>
              <a:buFont typeface="Carlito"/>
              <a:buNone/>
            </a:pPr>
            <a:r>
              <a:rPr b="1" lang="en-US" sz="2400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Student introduction</a:t>
            </a:r>
            <a:endParaRPr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rlito"/>
              <a:buNone/>
            </a:pPr>
            <a:r>
              <a:rPr lang="en-US" sz="16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Harshita Singh, Roll No. 25PGDM080, PGDM 2025–2027</a:t>
            </a:r>
            <a:endParaRPr sz="1600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rlito"/>
              <a:buNone/>
            </a:pPr>
            <a:r>
              <a:rPr lang="en-US" sz="16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Interested in applying AI and data-driven tools to solve real business problems in operations and client servicing</a:t>
            </a:r>
            <a:endParaRPr sz="1600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85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16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A chance to turn a recurring operational pain point into a working AI solution</a:t>
            </a:r>
            <a:endParaRPr sz="1600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2" name="Google Shape;292;p2"/>
          <p:cNvSpPr/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rlito"/>
              <a:buNone/>
            </a:pPr>
            <a:r>
              <a:rPr b="0" lang="en-US" sz="1200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2</a:t>
            </a:r>
            <a:endParaRPr/>
          </a:p>
        </p:txBody>
      </p:sp>
      <p:sp>
        <p:nvSpPr>
          <p:cNvPr id="293" name="Google Shape;293;p2"/>
          <p:cNvSpPr/>
          <p:nvPr/>
        </p:nvSpPr>
        <p:spPr>
          <a:xfrm>
            <a:off x="400050" y="1138593"/>
            <a:ext cx="11404500" cy="10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75"/>
              <a:buFont typeface="Carlito"/>
              <a:buNone/>
            </a:pPr>
            <a:r>
              <a:rPr b="1" lang="en-US" sz="3675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You, and Where You Worked</a:t>
            </a:r>
            <a:endParaRPr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4" name="Google Shape;294;p2"/>
          <p:cNvSpPr/>
          <p:nvPr/>
        </p:nvSpPr>
        <p:spPr>
          <a:xfrm>
            <a:off x="6305319" y="2774251"/>
            <a:ext cx="5537100" cy="38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2400"/>
              <a:buFont typeface="Carlito"/>
              <a:buNone/>
            </a:pPr>
            <a:r>
              <a:rPr b="1" lang="en-US" sz="2400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The internship &amp; organisation</a:t>
            </a:r>
            <a:endParaRPr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rlito"/>
              <a:buNone/>
            </a:pPr>
            <a:r>
              <a:rPr lang="en-US" sz="16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Udaan India Pvt. Ltd. — a visa concierge and corporate travel facilitation firm; worked within the Core Sales team</a:t>
            </a:r>
            <a:endParaRPr sz="1600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85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16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Corporate Internship Project, PGDM 2025–2027; guided by Corporate Mentor Ms. Amisha Chauhan and Faculty Mentor Prof. Alok Tewari; scope: client knowledge management</a:t>
            </a:r>
            <a:endParaRPr sz="1600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5" name="Google Shape;295;p2"/>
          <p:cNvSpPr/>
          <p:nvPr/>
        </p:nvSpPr>
        <p:spPr>
          <a:xfrm>
            <a:off x="400050" y="1686025"/>
            <a:ext cx="111444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5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Introduce yourself, then the organisation and where you sat in it - one line each.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6" name="Google Shape;296;p2"/>
          <p:cNvSpPr/>
          <p:nvPr/>
        </p:nvSpPr>
        <p:spPr>
          <a:xfrm>
            <a:off x="400050" y="2195700"/>
            <a:ext cx="819300" cy="47700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"/>
          <p:cNvSpPr/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rlito"/>
              <a:buNone/>
            </a:pPr>
            <a:r>
              <a:rPr b="0" lang="en-US" sz="1200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3</a:t>
            </a:r>
            <a:endParaRPr/>
          </a:p>
        </p:txBody>
      </p:sp>
      <p:sp>
        <p:nvSpPr>
          <p:cNvPr id="303" name="Google Shape;303;p3"/>
          <p:cNvSpPr/>
          <p:nvPr/>
        </p:nvSpPr>
        <p:spPr>
          <a:xfrm>
            <a:off x="427300" y="1216397"/>
            <a:ext cx="114045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75"/>
              <a:buFont typeface="Carlito"/>
              <a:buNone/>
            </a:pPr>
            <a:r>
              <a:rPr b="1" lang="en-US" sz="3675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The Mandate</a:t>
            </a:r>
            <a:endParaRPr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4" name="Google Shape;304;p3"/>
          <p:cNvSpPr/>
          <p:nvPr/>
        </p:nvSpPr>
        <p:spPr>
          <a:xfrm>
            <a:off x="393668" y="3365468"/>
            <a:ext cx="3568732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Carlito"/>
              <a:buNone/>
            </a:pPr>
            <a:r>
              <a:rPr b="1" lang="en-US" sz="2325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01  Core responsibility</a:t>
            </a:r>
            <a:endParaRPr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70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21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Support the Core Sales team by diagnosing recurring bottlenecks in accessing client-specific information</a:t>
            </a:r>
            <a:endParaRPr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5" name="Google Shape;305;p3"/>
          <p:cNvSpPr/>
          <p:nvPr/>
        </p:nvSpPr>
        <p:spPr>
          <a:xfrm>
            <a:off x="8229600" y="3365475"/>
            <a:ext cx="30498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Carlito"/>
              <a:buNone/>
            </a:pPr>
            <a:r>
              <a:rPr b="1" lang="en-US" sz="2325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03  Stakeholder responsibility</a:t>
            </a:r>
            <a:endParaRPr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70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21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Coordinated with Ms. Amisha Chauhan (Assistant Manager, Core Sales) and Harsh Sehgal (Assistant Manager, Operations); reported to Faculty Mentor Prof. Alok Tewari</a:t>
            </a:r>
            <a:endParaRPr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6" name="Google Shape;306;p3"/>
          <p:cNvSpPr/>
          <p:nvPr/>
        </p:nvSpPr>
        <p:spPr>
          <a:xfrm>
            <a:off x="4264701" y="3365475"/>
            <a:ext cx="31032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Carlito"/>
              <a:buNone/>
            </a:pPr>
            <a:r>
              <a:rPr b="1" lang="en-US" sz="2325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02  Project responsibility</a:t>
            </a:r>
            <a:endParaRPr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70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21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Design and build the Udaan Corporate Prospect Intelligence Assistant — an AI knowledge assistant on Dify AI</a:t>
            </a:r>
            <a:endParaRPr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7" name="Google Shape;307;p3"/>
          <p:cNvSpPr/>
          <p:nvPr/>
        </p:nvSpPr>
        <p:spPr>
          <a:xfrm>
            <a:off x="393675" y="1791800"/>
            <a:ext cx="111444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25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What you were entrusted with - one core, one project and one stakeholder responsibility.</a:t>
            </a:r>
            <a:endParaRPr sz="1300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8" name="Google Shape;308;p3"/>
          <p:cNvSpPr/>
          <p:nvPr/>
        </p:nvSpPr>
        <p:spPr>
          <a:xfrm>
            <a:off x="400050" y="2195700"/>
            <a:ext cx="819300" cy="47700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"/>
          <p:cNvSpPr/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rlito"/>
              <a:buNone/>
            </a:pPr>
            <a:r>
              <a:rPr b="0" lang="en-US" sz="1200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4</a:t>
            </a:r>
            <a:endParaRPr/>
          </a:p>
        </p:txBody>
      </p:sp>
      <p:sp>
        <p:nvSpPr>
          <p:cNvPr id="315" name="Google Shape;315;p4"/>
          <p:cNvSpPr/>
          <p:nvPr/>
        </p:nvSpPr>
        <p:spPr>
          <a:xfrm>
            <a:off x="393743" y="1075473"/>
            <a:ext cx="114045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75"/>
              <a:buFont typeface="Carlito"/>
              <a:buNone/>
            </a:pPr>
            <a:r>
              <a:rPr b="1" lang="en-US" sz="3675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What You Did</a:t>
            </a:r>
            <a:endParaRPr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6" name="Google Shape;316;p4"/>
          <p:cNvSpPr/>
          <p:nvPr/>
        </p:nvSpPr>
        <p:spPr>
          <a:xfrm>
            <a:off x="393738" y="3217847"/>
            <a:ext cx="3568800" cy="15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Carlito"/>
              <a:buNone/>
            </a:pPr>
            <a:r>
              <a:rPr b="1" lang="en-US" sz="2325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01  Approach</a:t>
            </a:r>
            <a:endParaRPr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70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16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Observed teams and ran stakeholder interviews to confirm client knowledge was fragmented across emails, shared folders and personal notes</a:t>
            </a:r>
            <a:endParaRPr sz="1600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7" name="Google Shape;317;p4"/>
          <p:cNvSpPr/>
          <p:nvPr/>
        </p:nvSpPr>
        <p:spPr>
          <a:xfrm>
            <a:off x="8229674" y="3217850"/>
            <a:ext cx="3138000" cy="15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Carlito"/>
              <a:buNone/>
            </a:pPr>
            <a:r>
              <a:rPr b="1" lang="en-US" sz="2325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03  Challenge handled</a:t>
            </a:r>
            <a:endParaRPr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70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160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The assistant wasn't integrated with Udaan's CRM/DMS, so I worked with sample documents instead of live data — addressed through purposive sampling of representative client documents across account types</a:t>
            </a:r>
            <a:endParaRPr sz="1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8" name="Google Shape;318;p4"/>
          <p:cNvSpPr/>
          <p:nvPr/>
        </p:nvSpPr>
        <p:spPr>
          <a:xfrm>
            <a:off x="4181699" y="3217847"/>
            <a:ext cx="3568800" cy="15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Carlito"/>
              <a:buNone/>
            </a:pPr>
            <a:r>
              <a:rPr b="1" lang="en-US" sz="2325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02  What you did</a:t>
            </a:r>
            <a:endParaRPr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70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1600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Uploaded sample onboarding documents, SLAs and policies into Dify AI's knowledge base, designed and refined prompts (with ChatGPT support) for consistent, professional answers, and launched a conversational web interface</a:t>
            </a:r>
            <a:endParaRPr sz="1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9" name="Google Shape;319;p4"/>
          <p:cNvSpPr/>
          <p:nvPr/>
        </p:nvSpPr>
        <p:spPr>
          <a:xfrm>
            <a:off x="393743" y="1656450"/>
            <a:ext cx="111444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Walk through your own work: how you approached it, what you did, and a challenge you handled.</a:t>
            </a:r>
            <a:endParaRPr sz="1900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0" name="Google Shape;320;p4"/>
          <p:cNvSpPr/>
          <p:nvPr/>
        </p:nvSpPr>
        <p:spPr>
          <a:xfrm>
            <a:off x="393743" y="2088350"/>
            <a:ext cx="819300" cy="47700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"/>
          <p:cNvSpPr/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rlito"/>
              <a:buNone/>
            </a:pPr>
            <a:r>
              <a:rPr b="0" lang="en-US" sz="1200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5</a:t>
            </a:r>
            <a:endParaRPr/>
          </a:p>
        </p:txBody>
      </p:sp>
      <p:sp>
        <p:nvSpPr>
          <p:cNvPr id="327" name="Google Shape;327;p5"/>
          <p:cNvSpPr/>
          <p:nvPr/>
        </p:nvSpPr>
        <p:spPr>
          <a:xfrm>
            <a:off x="393750" y="1302572"/>
            <a:ext cx="114045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75"/>
              <a:buFont typeface="Carlito"/>
              <a:buNone/>
            </a:pPr>
            <a:r>
              <a:rPr b="1" lang="en-US" sz="3675">
                <a:solidFill>
                  <a:srgbClr val="1E4A84"/>
                </a:solidFill>
                <a:latin typeface="Carlito"/>
                <a:ea typeface="Carlito"/>
                <a:cs typeface="Carlito"/>
                <a:sym typeface="Carlito"/>
              </a:rPr>
              <a:t>The Result</a:t>
            </a:r>
            <a:endParaRPr>
              <a:solidFill>
                <a:srgbClr val="1E4A84"/>
              </a:solidFill>
            </a:endParaRPr>
          </a:p>
        </p:txBody>
      </p:sp>
      <p:sp>
        <p:nvSpPr>
          <p:cNvPr id="328" name="Google Shape;328;p5"/>
          <p:cNvSpPr/>
          <p:nvPr/>
        </p:nvSpPr>
        <p:spPr>
          <a:xfrm>
            <a:off x="393668" y="3365468"/>
            <a:ext cx="35688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Carlito"/>
              <a:buNone/>
            </a:pPr>
            <a:r>
              <a:rPr b="1" lang="en-US" sz="2325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01  Deliverable</a:t>
            </a:r>
            <a:endParaRPr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70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16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Udaan Corporate Prospect Intelligence Assistant — a conversational AI chatbot deployed and tested by two Assistant Managers (Level 2: team-level use)</a:t>
            </a:r>
            <a:endParaRPr sz="1600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9" name="Google Shape;329;p5"/>
          <p:cNvSpPr/>
          <p:nvPr/>
        </p:nvSpPr>
        <p:spPr>
          <a:xfrm>
            <a:off x="8229600" y="3365475"/>
            <a:ext cx="31713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Carlito"/>
              <a:buNone/>
            </a:pPr>
            <a:r>
              <a:rPr b="1" lang="en-US" sz="2325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03  Value to the organisation</a:t>
            </a:r>
            <a:endParaRPr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70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16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Faster, more consistent answers to client queries and reduced dependency on individual employees who 'know the account'</a:t>
            </a:r>
            <a:endParaRPr sz="1600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0" name="Google Shape;330;p5"/>
          <p:cNvSpPr/>
          <p:nvPr/>
        </p:nvSpPr>
        <p:spPr>
          <a:xfrm>
            <a:off x="3862082" y="3365468"/>
            <a:ext cx="35688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Carlito"/>
              <a:buNone/>
            </a:pPr>
            <a:r>
              <a:rPr b="1" lang="en-US" sz="2325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02  Measured outcome</a:t>
            </a:r>
            <a:endParaRPr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70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16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Manual search time cut from 15–20 minutes to under 30 seconds with AI-assisted retrieval</a:t>
            </a:r>
            <a:endParaRPr sz="900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1" name="Google Shape;331;p5"/>
          <p:cNvSpPr/>
          <p:nvPr/>
        </p:nvSpPr>
        <p:spPr>
          <a:xfrm>
            <a:off x="393750" y="1864475"/>
            <a:ext cx="111444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4B5563"/>
                </a:solidFill>
                <a:latin typeface="Carlito"/>
                <a:ea typeface="Carlito"/>
                <a:cs typeface="Carlito"/>
                <a:sym typeface="Carlito"/>
              </a:rPr>
              <a:t>Show the result of your work with one deliverable, one measured outcome and the value to the organisation.</a:t>
            </a:r>
            <a:endParaRPr/>
          </a:p>
        </p:txBody>
      </p:sp>
      <p:sp>
        <p:nvSpPr>
          <p:cNvPr id="332" name="Google Shape;332;p5"/>
          <p:cNvSpPr/>
          <p:nvPr/>
        </p:nvSpPr>
        <p:spPr>
          <a:xfrm>
            <a:off x="393750" y="2618450"/>
            <a:ext cx="819300" cy="47700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"/>
          <p:cNvSpPr/>
          <p:nvPr/>
        </p:nvSpPr>
        <p:spPr>
          <a:xfrm>
            <a:off x="427250" y="2644025"/>
            <a:ext cx="5533200" cy="3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2400"/>
              <a:buFont typeface="Carlito"/>
              <a:buNone/>
            </a:pPr>
            <a:r>
              <a:rPr b="1" lang="en-US" sz="2400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Your strengths</a:t>
            </a:r>
            <a:endParaRPr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rlito"/>
              <a:buNone/>
            </a:pPr>
            <a:r>
              <a:rPr lang="en-US" sz="21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Stakeholder-driven problem diagnosis, and applied AI tool-building</a:t>
            </a:r>
            <a:endParaRPr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rlito"/>
              <a:buNone/>
            </a:pPr>
            <a:r>
              <a:rPr lang="en-US" sz="21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Confirmed the bottleneck through direct observation and interviews with the Assistant Manager, Core Sales, then built and deployed a working Dify AI chatbot</a:t>
            </a:r>
            <a:endParaRPr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85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21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Roles that blend business analysis with applied AI/technology implementation</a:t>
            </a:r>
            <a:endParaRPr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9" name="Google Shape;339;p6"/>
          <p:cNvSpPr/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rlito"/>
              <a:buNone/>
            </a:pPr>
            <a:r>
              <a:rPr b="0" lang="en-US" sz="1200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6</a:t>
            </a:r>
            <a:endParaRPr/>
          </a:p>
        </p:txBody>
      </p:sp>
      <p:sp>
        <p:nvSpPr>
          <p:cNvPr id="340" name="Google Shape;340;p6"/>
          <p:cNvSpPr/>
          <p:nvPr/>
        </p:nvSpPr>
        <p:spPr>
          <a:xfrm>
            <a:off x="393750" y="1015097"/>
            <a:ext cx="114045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75"/>
              <a:buFont typeface="Carlito"/>
              <a:buNone/>
            </a:pPr>
            <a:r>
              <a:rPr b="1" lang="en-US" sz="3675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What It Showed About You</a:t>
            </a:r>
            <a:endParaRPr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1" name="Google Shape;341;p6"/>
          <p:cNvSpPr/>
          <p:nvPr/>
        </p:nvSpPr>
        <p:spPr>
          <a:xfrm>
            <a:off x="6298644" y="2644026"/>
            <a:ext cx="5537100" cy="38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2400"/>
              <a:buFont typeface="Carlito"/>
              <a:buNone/>
            </a:pPr>
            <a:r>
              <a:rPr b="1" lang="en-US" sz="2400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Your growth</a:t>
            </a:r>
            <a:endParaRPr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rlito"/>
              <a:buNone/>
            </a:pPr>
            <a:r>
              <a:rPr lang="en-US" sz="21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Scoping an AI solution for enterprise-grade security, access control and CRM integration</a:t>
            </a:r>
            <a:endParaRPr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85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21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Reading up on data governance and role-based access frameworks for enterprise AI deployments</a:t>
            </a:r>
            <a:endParaRPr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2" name="Google Shape;342;p6"/>
          <p:cNvSpPr/>
          <p:nvPr/>
        </p:nvSpPr>
        <p:spPr>
          <a:xfrm>
            <a:off x="393750" y="1622925"/>
            <a:ext cx="111444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5">
                <a:solidFill>
                  <a:srgbClr val="4B5563"/>
                </a:solidFill>
                <a:latin typeface="DM Sans"/>
                <a:ea typeface="DM Sans"/>
                <a:cs typeface="DM Sans"/>
                <a:sym typeface="DM Sans"/>
              </a:rPr>
              <a:t>Two strengths with evidence from your work, and one honest area for growth.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3" name="Google Shape;343;p6"/>
          <p:cNvSpPr/>
          <p:nvPr/>
        </p:nvSpPr>
        <p:spPr>
          <a:xfrm>
            <a:off x="534675" y="2039050"/>
            <a:ext cx="819300" cy="47700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7"/>
          <p:cNvSpPr/>
          <p:nvPr/>
        </p:nvSpPr>
        <p:spPr>
          <a:xfrm>
            <a:off x="11279219" y="6278594"/>
            <a:ext cx="519113" cy="2412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rlito"/>
              <a:buNone/>
            </a:pPr>
            <a:r>
              <a:rPr b="0" lang="en-US" sz="1200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7</a:t>
            </a:r>
            <a:endParaRPr/>
          </a:p>
        </p:txBody>
      </p:sp>
      <p:sp>
        <p:nvSpPr>
          <p:cNvPr id="350" name="Google Shape;350;p7"/>
          <p:cNvSpPr/>
          <p:nvPr/>
        </p:nvSpPr>
        <p:spPr>
          <a:xfrm>
            <a:off x="393750" y="1035196"/>
            <a:ext cx="11404500" cy="4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75"/>
              <a:buFont typeface="Carlito"/>
              <a:buNone/>
            </a:pPr>
            <a:r>
              <a:rPr b="1" lang="en-US" sz="3675">
                <a:solidFill>
                  <a:srgbClr val="1E4A84"/>
                </a:solidFill>
                <a:latin typeface="Carlito"/>
                <a:ea typeface="Carlito"/>
                <a:cs typeface="Carlito"/>
                <a:sym typeface="Carlito"/>
              </a:rPr>
              <a:t>My AI Solution</a:t>
            </a:r>
            <a:endParaRPr>
              <a:solidFill>
                <a:srgbClr val="1E4A84"/>
              </a:solidFill>
            </a:endParaRPr>
          </a:p>
        </p:txBody>
      </p:sp>
      <p:sp>
        <p:nvSpPr>
          <p:cNvPr id="351" name="Google Shape;351;p7"/>
          <p:cNvSpPr/>
          <p:nvPr/>
        </p:nvSpPr>
        <p:spPr>
          <a:xfrm>
            <a:off x="395956" y="2729843"/>
            <a:ext cx="5537100" cy="16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Carlito"/>
              <a:buNone/>
            </a:pPr>
            <a:r>
              <a:rPr b="1" lang="en-US" sz="2325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r>
              <a:rPr b="1" lang="en-US" sz="2325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1  Input</a:t>
            </a:r>
            <a:endParaRPr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5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16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Client onboarding documents, service agreements, travel policies, approval workflows and billing structures</a:t>
            </a:r>
            <a:endParaRPr sz="1600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2" name="Google Shape;352;p7"/>
          <p:cNvSpPr/>
          <p:nvPr/>
        </p:nvSpPr>
        <p:spPr>
          <a:xfrm>
            <a:off x="6258880" y="2729843"/>
            <a:ext cx="5537100" cy="16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Carlito"/>
              <a:buNone/>
            </a:pPr>
            <a:r>
              <a:rPr b="1" lang="en-US" sz="2325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r>
              <a:rPr b="1" lang="en-US" sz="2325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2  AI processing</a:t>
            </a:r>
            <a:endParaRPr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5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16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Dify AI as the core platform, with ChatGPT used for prompt design — it consolidates knowledge across documents and answers natural-language questions instantly</a:t>
            </a:r>
            <a:endParaRPr sz="1600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3" name="Google Shape;353;p7"/>
          <p:cNvSpPr/>
          <p:nvPr/>
        </p:nvSpPr>
        <p:spPr>
          <a:xfrm>
            <a:off x="402263" y="4412900"/>
            <a:ext cx="5537100" cy="16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Carlito"/>
              <a:buNone/>
            </a:pPr>
            <a:r>
              <a:rPr b="1" lang="en-US" sz="2325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r>
              <a:rPr b="1" lang="en-US" sz="2325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3  Output</a:t>
            </a:r>
            <a:endParaRPr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5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16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Instant, natural-language answers to client-specific queries — retrieval time fell from 15–20 minutes to under 30 seconds in manager testing</a:t>
            </a:r>
            <a:endParaRPr sz="1600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4" name="Google Shape;354;p7"/>
          <p:cNvSpPr/>
          <p:nvPr/>
        </p:nvSpPr>
        <p:spPr>
          <a:xfrm>
            <a:off x="6265180" y="4412903"/>
            <a:ext cx="5537100" cy="16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Carlito"/>
              <a:buNone/>
            </a:pPr>
            <a:r>
              <a:rPr b="1" lang="en-US" sz="2325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0</a:t>
            </a:r>
            <a:r>
              <a:rPr b="1" lang="en-US" sz="2325">
                <a:solidFill>
                  <a:srgbClr val="1E4A84"/>
                </a:solidFill>
                <a:latin typeface="DM Sans"/>
                <a:ea typeface="DM Sans"/>
                <a:cs typeface="DM Sans"/>
                <a:sym typeface="DM Sans"/>
              </a:rPr>
              <a:t>4  Human decision &amp; limits</a:t>
            </a:r>
            <a:endParaRPr>
              <a:solidFill>
                <a:srgbClr val="1E4A8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650"/>
              </a:spcBef>
              <a:spcAft>
                <a:spcPts val="0"/>
              </a:spcAft>
              <a:buClr>
                <a:srgbClr val="4B5563"/>
              </a:buClr>
              <a:buSzPts val="2100"/>
              <a:buFont typeface="Carlito"/>
              <a:buNone/>
            </a:pPr>
            <a:r>
              <a:rPr lang="en-US" sz="1600">
                <a:solidFill>
                  <a:srgbClr val="434343"/>
                </a:solidFill>
                <a:latin typeface="DM Sans"/>
                <a:ea typeface="DM Sans"/>
                <a:cs typeface="DM Sans"/>
                <a:sym typeface="DM Sans"/>
              </a:rPr>
              <a:t>Checked by Core Sales and Operations managers before use; no role-based access controls yet, and it runs on sample data, not live production systems</a:t>
            </a:r>
            <a:endParaRPr sz="1600">
              <a:solidFill>
                <a:srgbClr val="434343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5" name="Google Shape;355;p7"/>
          <p:cNvSpPr/>
          <p:nvPr/>
        </p:nvSpPr>
        <p:spPr>
          <a:xfrm>
            <a:off x="393750" y="1502100"/>
            <a:ext cx="111444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434343"/>
                </a:solidFill>
                <a:latin typeface="Carlito"/>
                <a:ea typeface="Carlito"/>
                <a:cs typeface="Carlito"/>
                <a:sym typeface="Carlito"/>
              </a:rPr>
              <a:t>First state the gap you spotted, then explain your solution: input, processing, output (show one real example) and the human decision point.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356" name="Google Shape;356;p7"/>
          <p:cNvSpPr/>
          <p:nvPr/>
        </p:nvSpPr>
        <p:spPr>
          <a:xfrm>
            <a:off x="393750" y="2289650"/>
            <a:ext cx="819300" cy="47700"/>
          </a:xfrm>
          <a:prstGeom prst="rect">
            <a:avLst/>
          </a:prstGeom>
          <a:solidFill>
            <a:srgbClr val="FDB5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8"/>
          <p:cNvSpPr/>
          <p:nvPr/>
        </p:nvSpPr>
        <p:spPr>
          <a:xfrm>
            <a:off x="447375" y="1953520"/>
            <a:ext cx="9448800" cy="12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Carlito"/>
              <a:buNone/>
            </a:pPr>
            <a:r>
              <a:rPr b="1" lang="en-US" sz="5100">
                <a:solidFill>
                  <a:srgbClr val="1E4A84"/>
                </a:solidFill>
                <a:latin typeface="Oswald"/>
                <a:ea typeface="Oswald"/>
                <a:cs typeface="Oswald"/>
                <a:sym typeface="Oswald"/>
              </a:rPr>
              <a:t>My CIP contribution,</a:t>
            </a:r>
            <a:br>
              <a:rPr b="1" lang="en-US" sz="5100">
                <a:solidFill>
                  <a:srgbClr val="1E4A84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b="1" lang="en-US" sz="5100">
                <a:solidFill>
                  <a:srgbClr val="1E4A84"/>
                </a:solidFill>
                <a:latin typeface="Oswald"/>
                <a:ea typeface="Oswald"/>
                <a:cs typeface="Oswald"/>
                <a:sym typeface="Oswald"/>
              </a:rPr>
              <a:t>in two connected parts</a:t>
            </a:r>
            <a:endParaRPr>
              <a:solidFill>
                <a:srgbClr val="1E4A84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447375" y="3534475"/>
            <a:ext cx="95982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5"/>
              <a:buFont typeface="Carlito"/>
              <a:buNone/>
            </a:pPr>
            <a:r>
              <a:rPr lang="en-US" sz="1800">
                <a:solidFill>
                  <a:srgbClr val="000000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[</a:t>
            </a:r>
            <a:r>
              <a:rPr lang="en-US" sz="1800">
                <a:solidFill>
                  <a:srgbClr val="1E4A84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Part 1: </a:t>
            </a:r>
            <a:r>
              <a:rPr lang="en-US" sz="1800">
                <a:solidFill>
                  <a:srgbClr val="000000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diagnosed fragmented client knowledge at Udaan and worked with the Core Sales team on a client intelligence initiative]</a:t>
            </a:r>
            <a:endParaRPr sz="1800">
              <a:solidFill>
                <a:srgbClr val="000000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5"/>
              <a:buFont typeface="Carlito"/>
              <a:buNone/>
            </a:pPr>
            <a:r>
              <a:t/>
            </a:r>
            <a:endParaRPr sz="1800"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75"/>
              <a:buFont typeface="Carlito"/>
              <a:buNone/>
            </a:pPr>
            <a:r>
              <a:rPr lang="en-US" sz="1800">
                <a:solidFill>
                  <a:srgbClr val="000000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[</a:t>
            </a:r>
            <a:r>
              <a:rPr lang="en-US" sz="1800">
                <a:solidFill>
                  <a:srgbClr val="1E4A84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Part 2:</a:t>
            </a:r>
            <a:r>
              <a:rPr lang="en-US" sz="1800">
                <a:solidFill>
                  <a:srgbClr val="000000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 the fragmented-knowledge gap, and the Udaan Corporate Prospect Intelligence Assistant (Dify AI) that cut retrieval time from 15–20 min to under 30 sec]</a:t>
            </a:r>
            <a:endParaRPr sz="1800">
              <a:solidFill>
                <a:srgbClr val="000000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75"/>
              <a:buFont typeface="Carlito"/>
              <a:buNone/>
            </a:pPr>
            <a:r>
              <a:t/>
            </a:r>
            <a:endParaRPr sz="1800">
              <a:latin typeface="DM Sans SemiBold"/>
              <a:ea typeface="DM Sans SemiBold"/>
              <a:cs typeface="DM Sans SemiBold"/>
              <a:sym typeface="DM Sans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4B5563"/>
              </a:buClr>
              <a:buSzPts val="2175"/>
              <a:buFont typeface="Carlito"/>
              <a:buNone/>
            </a:pPr>
            <a:r>
              <a:rPr lang="en-US" sz="1800">
                <a:solidFill>
                  <a:srgbClr val="434343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Level 2 – team-level use | key limit: not yet integrated with CRM/DMS | next step: pilot with a small team and add governance</a:t>
            </a:r>
            <a:endParaRPr sz="1800">
              <a:solidFill>
                <a:srgbClr val="434343"/>
              </a:solidFill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447375" y="1405525"/>
            <a:ext cx="39009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725"/>
              <a:buFont typeface="Carlito"/>
              <a:buNone/>
            </a:pPr>
            <a:r>
              <a:rPr b="1" lang="en-US" sz="1725">
                <a:solidFill>
                  <a:srgbClr val="1E4A84"/>
                </a:solidFill>
                <a:latin typeface="Carlito"/>
                <a:ea typeface="Carlito"/>
                <a:cs typeface="Carlito"/>
                <a:sym typeface="Carlito"/>
              </a:rPr>
              <a:t>CIP VIVA / SYNTHESIS</a:t>
            </a:r>
            <a:endParaRPr>
              <a:solidFill>
                <a:srgbClr val="1E4A84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oogle Shape;370;g3f82928f0c3_0_954"/>
          <p:cNvGrpSpPr/>
          <p:nvPr/>
        </p:nvGrpSpPr>
        <p:grpSpPr>
          <a:xfrm>
            <a:off x="2381025" y="1917400"/>
            <a:ext cx="7054200" cy="4070223"/>
            <a:chOff x="2474400" y="2011350"/>
            <a:chExt cx="7054200" cy="4070223"/>
          </a:xfrm>
        </p:grpSpPr>
        <p:sp>
          <p:nvSpPr>
            <p:cNvPr id="371" name="Google Shape;371;g3f82928f0c3_0_954"/>
            <p:cNvSpPr txBox="1"/>
            <p:nvPr/>
          </p:nvSpPr>
          <p:spPr>
            <a:xfrm>
              <a:off x="3969900" y="2011350"/>
              <a:ext cx="4063200" cy="120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9975" lIns="129975" spcFirstLastPara="1" rIns="129975" wrap="square" tIns="1299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82">
                  <a:solidFill>
                    <a:schemeClr val="lt1"/>
                  </a:solidFill>
                  <a:latin typeface="Oswald Medium"/>
                  <a:ea typeface="Oswald Medium"/>
                  <a:cs typeface="Oswald Medium"/>
                  <a:sym typeface="Oswald Medium"/>
                </a:rPr>
                <a:t>Thank You</a:t>
              </a:r>
              <a:endParaRPr sz="6682">
                <a:solidFill>
                  <a:schemeClr val="lt1"/>
                </a:solidFill>
                <a:latin typeface="Oswald Medium"/>
                <a:ea typeface="Oswald Medium"/>
                <a:cs typeface="Oswald Medium"/>
                <a:sym typeface="Oswald Medium"/>
              </a:endParaRPr>
            </a:p>
          </p:txBody>
        </p:sp>
        <p:sp>
          <p:nvSpPr>
            <p:cNvPr id="372" name="Google Shape;372;g3f82928f0c3_0_954"/>
            <p:cNvSpPr txBox="1"/>
            <p:nvPr/>
          </p:nvSpPr>
          <p:spPr>
            <a:xfrm>
              <a:off x="2941500" y="4250621"/>
              <a:ext cx="6120000" cy="6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9975" lIns="129975" spcFirstLastPara="1" rIns="129975" wrap="square" tIns="1299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17">
                  <a:solidFill>
                    <a:srgbClr val="FDB515"/>
                  </a:solidFill>
                  <a:latin typeface="Inter"/>
                  <a:ea typeface="Inter"/>
                  <a:cs typeface="Inter"/>
                  <a:sym typeface="Inter"/>
                </a:rPr>
                <a:t>[</a:t>
              </a:r>
              <a:r>
                <a:rPr b="1" lang="en-US" sz="2417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#NeverStopLearning</a:t>
              </a:r>
              <a:r>
                <a:rPr b="1" lang="en-US" sz="2417">
                  <a:solidFill>
                    <a:srgbClr val="FDB515"/>
                  </a:solidFill>
                  <a:latin typeface="Inter"/>
                  <a:ea typeface="Inter"/>
                  <a:cs typeface="Inter"/>
                  <a:sym typeface="Inter"/>
                </a:rPr>
                <a:t>]</a:t>
              </a:r>
              <a:endParaRPr b="1" sz="2417">
                <a:solidFill>
                  <a:srgbClr val="FDB5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3" name="Google Shape;373;g3f82928f0c3_0_954"/>
            <p:cNvSpPr txBox="1"/>
            <p:nvPr/>
          </p:nvSpPr>
          <p:spPr>
            <a:xfrm>
              <a:off x="2474400" y="5165110"/>
              <a:ext cx="7054200" cy="61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9975" lIns="129975" spcFirstLastPara="1" rIns="129975" wrap="square" tIns="1299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48">
                  <a:solidFill>
                    <a:schemeClr val="lt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Fortune Institute of International Business (FIIB)</a:t>
              </a:r>
              <a:endParaRPr sz="1848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374" name="Google Shape;374;g3f82928f0c3_0_954"/>
            <p:cNvSpPr txBox="1"/>
            <p:nvPr/>
          </p:nvSpPr>
          <p:spPr>
            <a:xfrm>
              <a:off x="2544300" y="5597973"/>
              <a:ext cx="6914400" cy="48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9975" lIns="129975" spcFirstLastPara="1" rIns="129975" wrap="square" tIns="1299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5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Plot No. 5, Rao Tula Ram Marg, Opposite Army R&amp;R Hospital, Vasant Vihar, New Delhi, Delhi 110057 admissions@fiib.edu.in | +91 74283 44339 | www.fiib.edu.in | @fiibindia</a:t>
              </a:r>
              <a:endParaRPr sz="995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